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Contract Type vs Churn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2220</c:v>
                </c:pt>
                <c:pt idx="1">
                  <c:v>1307</c:v>
                </c:pt>
                <c:pt idx="2">
                  <c:v>1647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C7-470B-B404-12D36CDAC2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1655</c:v>
                </c:pt>
                <c:pt idx="1">
                  <c:v>166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C7-470B-B404-12D36CDAC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A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48-4C9A-8CD2-A0F0DD97C768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48-4C9A-8CD2-A0F0DD97C768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48-4C9A-8CD2-A0F0DD97C76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XGBoost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75.099999999999994</c:v>
                </c:pt>
                <c:pt idx="1">
                  <c:v>77.2</c:v>
                </c:pt>
                <c:pt idx="2">
                  <c:v>77.3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48-4C9A-8CD2-A0F0DD97C7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A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Top 10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Contract</c:v>
                </c:pt>
                <c:pt idx="1">
                  <c:v>TotalCharges</c:v>
                </c:pt>
                <c:pt idx="2">
                  <c:v>tenure</c:v>
                </c:pt>
                <c:pt idx="3">
                  <c:v>MonthlyCharges</c:v>
                </c:pt>
                <c:pt idx="4">
                  <c:v>InternetService</c:v>
                </c:pt>
                <c:pt idx="5">
                  <c:v>PaymentMethod</c:v>
                </c:pt>
                <c:pt idx="6">
                  <c:v>TechSupport</c:v>
                </c:pt>
                <c:pt idx="7">
                  <c:v>OnlineSecurity</c:v>
                </c:pt>
                <c:pt idx="8">
                  <c:v>PaperlessBilling</c:v>
                </c:pt>
                <c:pt idx="9">
                  <c:v>SeniorCitizen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0.16500000000000001</c:v>
                </c:pt>
                <c:pt idx="1">
                  <c:v>0.14199999999999999</c:v>
                </c:pt>
                <c:pt idx="2">
                  <c:v>0.13800000000000001</c:v>
                </c:pt>
                <c:pt idx="3">
                  <c:v>0.125</c:v>
                </c:pt>
                <c:pt idx="4">
                  <c:v>8.2000000000000003E-2</c:v>
                </c:pt>
                <c:pt idx="5">
                  <c:v>7.0999999999999994E-2</c:v>
                </c:pt>
                <c:pt idx="6">
                  <c:v>5.8000000000000003E-2</c:v>
                </c:pt>
                <c:pt idx="7">
                  <c:v>5.1999999999999998E-2</c:v>
                </c:pt>
                <c:pt idx="8">
                  <c:v>4.2000000000000003E-2</c:v>
                </c:pt>
                <c:pt idx="9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DB-4193-B9C3-4D9EA9C8D3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A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2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1920240" cy="29260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5A5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 Learning–Based Customer Retention Analysis 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5029200" cy="2743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560320" cy="475488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👥  7,043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456432"/>
            <a:ext cx="2560320" cy="475488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3456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📊  21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3456432"/>
            <a:ext cx="2560320" cy="475488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3456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🤖  Random Forest + XGBoost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5A5A6"/>
                </a:solidFill>
              </a:rPr>
              <a:t>github.com/anamikaa0818-hash/Customer-Churn-Prediction-for-Telecom-Companies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8612147-A482-AE86-CE30-2803BAA9F1EA}"/>
              </a:ext>
            </a:extLst>
          </p:cNvPr>
          <p:cNvSpPr/>
          <p:nvPr/>
        </p:nvSpPr>
        <p:spPr>
          <a:xfrm>
            <a:off x="423772" y="401205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5A5A6"/>
                </a:solidFill>
              </a:rPr>
              <a:t>Team Members:  Anamika A | Ashna Jabin NK | Aparna Sreenivasan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243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17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Business problem &amp;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2128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157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32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7,043 telecom customers · 21 attributes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1272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0723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EDA &amp; Key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467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Churn patterns &amp; visual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40416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261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Cleaning, encoding, SMOTE balancing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47488" y="12984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4748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1243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1517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LR · Random Forest · XGBoost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1031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47488" y="22128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4748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157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Results &amp; 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2432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Accuracy, ROC-AUC, feature importance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0175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47488" y="3127248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30723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Streamlit App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33467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</a:rPr>
              <a:t>Live prediction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2120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5661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47548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Customer churn is one of the most critical challenges in the telecom industry. Losing a customer costs 5–10× more than retaining one.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This project builds a Machine Learning system to: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</a:rPr>
              <a:t>Predict which customers are likely to leave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</a:rPr>
              <a:t>Identify key churn drivers from customer data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</a:rPr>
              <a:t>Enable proactive retention campaigns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</a:rPr>
              <a:t>Provide an interactive prediction dashboard via Streamlit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143000"/>
            <a:ext cx="2834640" cy="105156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26.5%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0" y="1801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Churn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834640" cy="1051560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423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73.5%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943600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Retained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611880"/>
            <a:ext cx="2834640" cy="105156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77%+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Model Acc.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7,043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</a:rPr>
              <a:t>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21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</a:rPr>
              <a:t>Target Classes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8412480" cy="2496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 Group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Columns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Demographics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gender, SeniorCitizen, Partner, Dependents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Account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tenure, Contract, PaperlessBilling, PaymentMethod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Mixed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Phone Services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PhoneService, MultipleLines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Internet Svcs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InternetService, OnlineSecurity, OnlineBackup, DeviceProtection, TechSupport, StreamingTV, StreamingMovies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Charges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MonthlyCharges, TotalCharges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Numerical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Churn (Yes / No)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Binary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EDA – Churn Distribution &amp; Contract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32004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560320" cy="2560320"/>
          </a:xfrm>
          <a:prstGeom prst="ellipse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</a:rPr>
              <a:t>26.5%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</a:rPr>
              <a:t>Churned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228600" cy="228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Churned (26.5%  · 1,869)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81728"/>
            <a:ext cx="228600" cy="2286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681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Retained (73.5%  · 5,174)</a:t>
            </a:r>
            <a:endParaRPr lang="en-US" sz="10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931920" y="105156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EDA –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Contract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Month-to-month customers churn at ~42%. One-year &amp; two-year contracts have dramatically lower churn rates.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Monthly Charges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2704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Churning customers have significantly higher monthly charges (~$74) vs retained customers (~$61).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Tenure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Short-tenure customers (&lt; 12 months) churn most. Customers with 5+ years rarely leave.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Internet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78892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Fiber optic users show higher churn than DSL or no-internet users despite better service.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6674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758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758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Payment Method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Electronic check users churn the most. Auto-pay methods (credit card, bank transfer) correlate with retention.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6674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758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758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Senior Citizens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05079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Senior citizens (16% of base) show slightly elevated churn vs non-seniors, possibly due to pricing sensitivity.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5087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527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184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WA_Fn-UseC_-Telco-Customer-Churn.csv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7,043 rows · 21 columns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5087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2527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6184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Drop customerID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Convert TotalCharges → numeric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Fill 11 NaN with median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5087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2527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16184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LabelEncoder on all 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categorical columns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508760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0815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SMOTE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Oversample minority class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Balance 73.5% / 26.5%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5087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30815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Scaling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StandardScaler on numerical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features before LR training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508760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30815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Train/Test Split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80% train · 20% 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stratify=y, random_state=42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5,634 train · 1,409 test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Training – Three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719072"/>
            <a:ext cx="1463040" cy="1463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75.1%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Baseline model · Scaled features · max_iter=1000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✔  Interpretable · Fast training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1719072"/>
            <a:ext cx="1463040" cy="146304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17190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77.3%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8620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n_estimators=300 · max_depth=10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min_samples_split=5 · min_samples_leaf=2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✔  Best overall · Feature importance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1719072"/>
            <a:ext cx="1463040" cy="14630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2280" y="17190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77.2%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1228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n_estimators=300 · lr=0.05 · max_depth=6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subsample=0.8 · colsample_bytree=0.8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✔  Gradient boosting · Regularization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Model Comparison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Random Forest – Classification Report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3154680" cy="2148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 Churn (0)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Churn (1)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Macro Avg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Weighted Avg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3931920"/>
            <a:ext cx="3337560" cy="868680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77840" y="39319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🏆  Random Forest is the 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Acc: 77.3%  |  ROC-AUC: strong on No-Churn class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Importance – Random Forest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5156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1115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Driver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481328"/>
            <a:ext cx="2468880" cy="566928"/>
          </a:xfrm>
          <a:prstGeom prst="rect">
            <a:avLst/>
          </a:prstGeom>
          <a:solidFill>
            <a:srgbClr val="EC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517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📋 Contract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Most powerful predictor — contract length drives loyalty.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2139696"/>
            <a:ext cx="2468880" cy="566928"/>
          </a:xfrm>
          <a:prstGeom prst="rect">
            <a:avLst/>
          </a:prstGeom>
          <a:solidFill>
            <a:srgbClr val="EC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0" y="2176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💰 TotalCharges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Cumulative spend reflects customer lifetime value.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798064"/>
            <a:ext cx="2468880" cy="566928"/>
          </a:xfrm>
          <a:prstGeom prst="rect">
            <a:avLst/>
          </a:prstGeom>
          <a:solidFill>
            <a:srgbClr val="EC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⏳ Tenure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3035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Longer-tenured customers are strongly retained.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09360" y="3456432"/>
            <a:ext cx="2468880" cy="566928"/>
          </a:xfrm>
          <a:prstGeom prst="rect">
            <a:avLst/>
          </a:prstGeom>
          <a:solidFill>
            <a:srgbClr val="EC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💸 MonthlyCharges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Higher bills correlate with higher churn risk.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9360" y="4114800"/>
            <a:ext cx="2468880" cy="566928"/>
          </a:xfrm>
          <a:prstGeom prst="rect">
            <a:avLst/>
          </a:prstGeom>
          <a:solidFill>
            <a:srgbClr val="EC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0" y="41513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🌐 InternetService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</a:rPr>
              <a:t>Fiber optic users show elevated risk vs DSL.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Streamlit Prediction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12801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Predict Customer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Fill in customer details across 3 columns — contract, billing, services — and instantly get churn probability with a color-coded alert.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EDA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Interactive charts: churn distribution, contract vs churn, monthly charges histogram, tenure boxplot.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86600" y="12801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Model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724912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View accuracy, ROC-AUC score, confusion matrix heatmap, ROC curve, and a full classification report table.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Tech Stack:  Streamlit · Pandas · Scikit-learn · Matplotlib · Seaborn · Joblib  |  Model: RandomForestClassifier (n=300)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34747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✅ Achievements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Trained 3 ML models on 7,043 customer records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Best accuracy: 77.3% (Random Forest)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Applied SMOTE to handle 73/27 class imbalance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Identified top churn drivers: Contract, Charges, Tenure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Built a 3-page interactive Streamlit dashboard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Full pipeline: data → EDA → preprocessing → model →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4023360" cy="34747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🚀 Future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Hyperparameter tuning with GridSearchCV / Optuna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Try Neural Networks (MLP) or LightGBM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Integrate SHAP explainability for individual predictions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Deploy on cloud (Streamlit Cloud / AWS / GCP)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Real-time churn scoring with live CRM data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Add customer segment analysis &amp; CLV estimation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5A6"/>
                </a:solidFill>
              </a:rPr>
              <a:t>Thank you  |  github.com/anamikaa0818-hash/Customer-Churn-Prediction-for-Telecom-Companies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937</Words>
  <Application>Microsoft Office PowerPoint</Application>
  <PresentationFormat>On-screen Show (16:9)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PptxGenJS Presentation</dc:subject>
  <dc:creator>Anamika</dc:creator>
  <cp:lastModifiedBy>Anamika A</cp:lastModifiedBy>
  <cp:revision>2</cp:revision>
  <dcterms:created xsi:type="dcterms:W3CDTF">2026-05-14T18:44:25Z</dcterms:created>
  <dcterms:modified xsi:type="dcterms:W3CDTF">2026-05-15T06:38:05Z</dcterms:modified>
</cp:coreProperties>
</file>